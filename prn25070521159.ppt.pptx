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Lazy Heap Entries O(E)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Sheet1!$A$2:$A$4</c:f>
              <c:strCache>
                <c:ptCount val="3"/>
                <c:pt idx="0">
                  <c:v>Sparse (E=5k)</c:v>
                </c:pt>
                <c:pt idx="1">
                  <c:v>Medium (E=25k)</c:v>
                </c:pt>
                <c:pt idx="2">
                  <c:v>Dense (E=100k)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5.0</c:v>
                </c:pt>
                <c:pt idx="1">
                  <c:v>25.0</c:v>
                </c:pt>
                <c:pt idx="2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Eager Indexed PQ O(V)</c:v>
                </c:pt>
              </c:strCache>
            </c:strRef>
          </c:tx>
          <c:spPr>
            <a:solidFill>
              <a:srgbClr val="0D9488"/>
            </a:solidFill>
          </c:spPr>
          <c:cat>
            <c:strRef>
              <c:f>Sheet1!$A$2:$A$4</c:f>
              <c:strCache>
                <c:ptCount val="3"/>
                <c:pt idx="0">
                  <c:v>Sparse (E=5k)</c:v>
                </c:pt>
                <c:pt idx="1">
                  <c:v>Medium (E=25k)</c:v>
                </c:pt>
                <c:pt idx="2">
                  <c:v>Dense (E=100k)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solidFill>
                    <a:srgbClr val="0F172A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>
                <a:solidFill>
                  <a:srgbClr val="0F172A"/>
                </a:solidFill>
                <a:latin typeface="Inter Display"/>
              </a:defRPr>
            </a:pPr>
            <a:r>
              <a:t>Queue Operations (Thousands, V=2k, E=20k)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Queue Operations (Thousands, V=2k, E=20k)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Sheet1!$A$2:$A$4</c:f>
              <c:strCache>
                <c:ptCount val="3"/>
                <c:pt idx="0">
                  <c:v>Adj. Matrix O(V²)</c:v>
                </c:pt>
                <c:pt idx="1">
                  <c:v>Binary Heap O(E log V)</c:v>
                </c:pt>
                <c:pt idx="2">
                  <c:v>Fib. Heap O(E + V log V)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4000</c:v>
                </c:pt>
                <c:pt idx="1">
                  <c:v>242</c:v>
                </c:pt>
                <c:pt idx="2">
                  <c:v>42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solidFill>
                    <a:srgbClr val="0F172A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Inter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Matrix O(V²)</c:v>
                </c:pt>
              </c:strCache>
            </c:strRef>
          </c:tx>
          <c:spPr>
            <a:solidFill>
              <a:srgbClr val="0D9488"/>
            </a:solidFill>
          </c:spPr>
          <c:cat>
            <c:strRef>
              <c:f>Sheet1!$A$2:$A$4</c:f>
              <c:strCache>
                <c:ptCount val="3"/>
                <c:pt idx="0">
                  <c:v>Sparse (E=4k)</c:v>
                </c:pt>
                <c:pt idx="1">
                  <c:v>Crossover (E=100k)</c:v>
                </c:pt>
                <c:pt idx="2">
                  <c:v>Dense (E=500k)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1000</c:v>
                </c:pt>
                <c:pt idx="2">
                  <c:v>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Binary Heap O(E log V)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Sheet1!$A$2:$A$4</c:f>
              <c:strCache>
                <c:ptCount val="3"/>
                <c:pt idx="0">
                  <c:v>Sparse (E=4k)</c:v>
                </c:pt>
                <c:pt idx="1">
                  <c:v>Crossover (E=100k)</c:v>
                </c:pt>
                <c:pt idx="2">
                  <c:v>Dense (E=500k)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1010</c:v>
                </c:pt>
                <c:pt idx="2">
                  <c:v>5010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solidFill>
                    <a:srgbClr val="0F172A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>
                <a:solidFill>
                  <a:srgbClr val="0F172A"/>
                </a:solidFill>
                <a:latin typeface="Inter Display"/>
              </a:defRPr>
            </a:pPr>
            <a:r>
              <a:t>Parallel Runtime Scaling (Thousands of Ops, V=2,048)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Parallel Step Cost (Thousands, V=2,048)</c:v>
                </c:pt>
              </c:strCache>
            </c:strRef>
          </c:tx>
          <c:spPr>
            <a:solidFill>
              <a:srgbClr val="0D9488"/>
            </a:solidFill>
          </c:spPr>
          <c:cat>
            <c:strRef>
              <c:f>Sheet1!$A$2:$A$6</c:f>
              <c:strCache>
                <c:ptCount val="5"/>
                <c:pt idx="0">
                  <c:v>P=1 Core</c:v>
                </c:pt>
                <c:pt idx="1">
                  <c:v>P=2 Cores</c:v>
                </c:pt>
                <c:pt idx="2">
                  <c:v>P=4 Cores</c:v>
                </c:pt>
                <c:pt idx="3">
                  <c:v>P=8 Cores</c:v>
                </c:pt>
                <c:pt idx="4">
                  <c:v>P=16 Cores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4194</c:v>
                </c:pt>
                <c:pt idx="1">
                  <c:v>2099</c:v>
                </c:pt>
                <c:pt idx="2">
                  <c:v>1053</c:v>
                </c:pt>
                <c:pt idx="3">
                  <c:v>530</c:v>
                </c:pt>
                <c:pt idx="4">
                  <c:v>270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solidFill>
                    <a:srgbClr val="0F172A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Inter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9601200" cy="3108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93C5FD"/>
                </a:solidFill>
                <a:latin typeface="Inter"/>
              </a:rPr>
              <a:t>DESIGN &amp; ANALYSIS OF ALGORITHMS</a:t>
            </a:r>
          </a:p>
          <a:p>
            <a:pPr algn="l">
              <a:spcAft>
                <a:spcPts val="1800"/>
              </a:spcAft>
            </a:pPr>
            <a:r>
              <a:rPr sz="4400" b="1">
                <a:solidFill>
                  <a:srgbClr val="F8FAFC"/>
                </a:solidFill>
                <a:latin typeface="Inter Display"/>
              </a:rPr>
              <a:t>Prim's Algorithm for Minimum Spanning Trees</a:t>
            </a:r>
          </a:p>
          <a:p>
            <a:pPr algn="l"/>
            <a:r>
              <a:rPr sz="1800">
                <a:solidFill>
                  <a:srgbClr val="CBD5E1"/>
                </a:solidFill>
                <a:latin typeface="Inter"/>
              </a:rPr>
              <a:t>Greedy Proofs, Priority Queues, Dry-Run Traces, and Asymptotic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Inter"/>
              </a:rPr>
              <a:t>Computer Science Lecture Deck | Graph Theory &amp; Greedy Algorithms | Slide 1 of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1. PROBLEM FORMULATION &amp; LINEAGE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MSTs Connect Graphs at Minimum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2563EB"/>
                </a:solidFill>
                <a:latin typeface="Inter Display"/>
              </a:rPr>
              <a:t>Core Graph Properties &amp; Origins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Acyclic Backbone: </a:t>
            </a:r>
            <a:r>
              <a:rPr sz="1600">
                <a:solidFill>
                  <a:srgbClr val="475569"/>
                </a:solidFill>
                <a:latin typeface="Inter"/>
              </a:rPr>
              <a:t>Connects all V vertices using exactly V - 1 edges with zero cycles.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Global Weight Goal: </a:t>
            </a:r>
            <a:r>
              <a:rPr sz="1600">
                <a:solidFill>
                  <a:srgbClr val="475569"/>
                </a:solidFill>
                <a:latin typeface="Inter"/>
              </a:rPr>
              <a:t>Minimizes cumulative edge cost across a weighted undirected graph.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Three Discoverers: </a:t>
            </a:r>
            <a:r>
              <a:rPr sz="1600">
                <a:solidFill>
                  <a:srgbClr val="475569"/>
                </a:solidFill>
                <a:latin typeface="Inter"/>
              </a:rPr>
              <a:t>Developed by Jarnik (1930), Prim (1957), and Dijkstra (1959).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Jarnik (1930), Prim (1957) | Slide 2 of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2. GREEDY DESIGN &amp; CORRECTNESS PROOF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Cut Property Guarantees Global Optimality of Local Choices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4010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29438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2563EB"/>
                </a:solidFill>
                <a:latin typeface="Inter Display"/>
              </a:rPr>
              <a:t>Cut Partition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Vertex Split: </a:t>
            </a:r>
            <a:r>
              <a:rPr sz="1600">
                <a:solidFill>
                  <a:srgbClr val="475569"/>
                </a:solidFill>
                <a:latin typeface="Inter"/>
              </a:rPr>
              <a:t>Divides V into tree set S and frontier V \ S.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Crossing Cut: </a:t>
            </a:r>
            <a:r>
              <a:rPr sz="1600">
                <a:solidFill>
                  <a:srgbClr val="475569"/>
                </a:solidFill>
                <a:latin typeface="Inter"/>
              </a:rPr>
              <a:t>Inspects edges (u, v) bridging S to V \ 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4010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29438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2563EB"/>
                </a:solidFill>
                <a:latin typeface="Inter Display"/>
              </a:rPr>
              <a:t>Safe Edge Rule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Greedy Rule: </a:t>
            </a:r>
            <a:r>
              <a:rPr sz="1600">
                <a:solidFill>
                  <a:srgbClr val="475569"/>
                </a:solidFill>
                <a:latin typeface="Inter"/>
              </a:rPr>
              <a:t>Picks lightest edge crossing cut (S, V \ S).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No Cycles: </a:t>
            </a:r>
            <a:r>
              <a:rPr sz="1600">
                <a:solidFill>
                  <a:srgbClr val="475569"/>
                </a:solidFill>
                <a:latin typeface="Inter"/>
              </a:rPr>
              <a:t>One outside endpoint preserves tree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4010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29438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2563EB"/>
                </a:solidFill>
                <a:latin typeface="Inter Display"/>
              </a:rPr>
              <a:t>Exchange Proof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Cut Theorem: </a:t>
            </a:r>
            <a:r>
              <a:rPr sz="1600">
                <a:solidFill>
                  <a:srgbClr val="475569"/>
                </a:solidFill>
                <a:latin typeface="Inter"/>
              </a:rPr>
              <a:t>Swapping heavier edge f with e lowers cost.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Global Proof: </a:t>
            </a:r>
            <a:r>
              <a:rPr sz="1600">
                <a:solidFill>
                  <a:srgbClr val="475569"/>
                </a:solidFill>
                <a:latin typeface="Inter"/>
              </a:rPr>
              <a:t>Safe additions inductively build an optimal MST.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Cormen et al. (CLRS), Chapter 23 — Minimum Spanning Trees | Slide 3 of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3. FORMAL SPECIFICATION &amp; LOOP INVARIANT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CLRS Pseudocode Maintains a Safe Tree Subgraph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3977639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4663440" cy="3520439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2563EB"/>
                </a:solidFill>
                <a:latin typeface="Inter Display"/>
              </a:rPr>
              <a:t>Procedure MST-PRIM(G, w, r)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1. Seed Keys: </a:t>
            </a:r>
            <a:r>
              <a:rPr sz="1600">
                <a:solidFill>
                  <a:srgbClr val="475569"/>
                </a:solidFill>
                <a:latin typeface="Inter"/>
              </a:rPr>
              <a:t>For each u in V: set key[u] = inf, parent[u] = NIL; set key[r] = 0.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2. Main Loop: </a:t>
            </a:r>
            <a:r>
              <a:rPr sz="1600">
                <a:solidFill>
                  <a:srgbClr val="475569"/>
                </a:solidFill>
                <a:latin typeface="Inter"/>
              </a:rPr>
              <a:t>While queue Q is non-empty, pop u = Extract-Min(Q) into S.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3. Relax Edges: </a:t>
            </a:r>
            <a:r>
              <a:rPr sz="1600">
                <a:solidFill>
                  <a:srgbClr val="475569"/>
                </a:solidFill>
                <a:latin typeface="Inter"/>
              </a:rPr>
              <a:t>For v in Adj[u]: if v in Q and w(u,v) &lt; key[v], update parent &amp; key.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2011680"/>
            <a:ext cx="5120640" cy="3977639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2240280"/>
            <a:ext cx="4663440" cy="3520439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2563EB"/>
                </a:solidFill>
                <a:latin typeface="Inter Display"/>
              </a:rPr>
              <a:t>Three-Step Loop Invariant Proof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Initialization: </a:t>
            </a:r>
            <a:r>
              <a:rPr sz="1600">
                <a:solidFill>
                  <a:srgbClr val="475569"/>
                </a:solidFill>
                <a:latin typeface="Inter"/>
              </a:rPr>
              <a:t>Before iteration 1, tree edge set A is empty and a subset of T*.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Maintenance: </a:t>
            </a:r>
            <a:r>
              <a:rPr sz="1600">
                <a:solidFill>
                  <a:srgbClr val="475569"/>
                </a:solidFill>
                <a:latin typeface="Inter"/>
              </a:rPr>
              <a:t>Extracting u adds lightest edge (parent[u], u) crossing cut (S, Q).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Termination: </a:t>
            </a:r>
            <a:r>
              <a:rPr sz="1600">
                <a:solidFill>
                  <a:srgbClr val="475569"/>
                </a:solidFill>
                <a:latin typeface="Inter"/>
              </a:rPr>
              <a:t>When Q = empty, S = V and committed edges A form a complete MST.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Cormen, Leiserson, Rivest &amp; Stein (CLRS), Section 23.2 | Slide 4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4. STEP-BY-STEP EXECUTION WORKFLOW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Priority Queue Keys Track Lightest Frontier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2563EB"/>
                </a:solidFill>
                <a:latin typeface="Inter Display"/>
              </a:rPr>
              <a:t>1. Seed Queue</a:t>
            </a:r>
          </a:p>
          <a:p>
            <a:pPr algn="l">
              <a:spcAft>
                <a:spcPts val="20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Infinite Keys: </a:t>
            </a:r>
            <a:r>
              <a:rPr sz="1600">
                <a:solidFill>
                  <a:srgbClr val="475569"/>
                </a:solidFill>
                <a:latin typeface="Inter"/>
              </a:rPr>
              <a:t>Set key[v] = inf and parent[v] = NIL for all V.</a:t>
            </a:r>
          </a:p>
          <a:p>
            <a:pPr algn="l">
              <a:spcAft>
                <a:spcPts val="20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Root Seed: </a:t>
            </a:r>
            <a:r>
              <a:rPr sz="1600">
                <a:solidFill>
                  <a:srgbClr val="475569"/>
                </a:solidFill>
                <a:latin typeface="Inter"/>
              </a:rPr>
              <a:t>Assign key[r] = 0 for start node r in queue Q.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2563EB"/>
                </a:solidFill>
                <a:latin typeface="Inter Display"/>
              </a:rPr>
              <a:t>2. Extract Min</a:t>
            </a:r>
          </a:p>
          <a:p>
            <a:pPr algn="l">
              <a:spcAft>
                <a:spcPts val="20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Greedy Pop: </a:t>
            </a:r>
            <a:r>
              <a:rPr sz="1600">
                <a:solidFill>
                  <a:srgbClr val="475569"/>
                </a:solidFill>
                <a:latin typeface="Inter"/>
              </a:rPr>
              <a:t>Extract vertex u in Q holding minimum key[u].</a:t>
            </a:r>
          </a:p>
          <a:p>
            <a:pPr algn="l">
              <a:spcAft>
                <a:spcPts val="20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Commit Edge: </a:t>
            </a:r>
            <a:r>
              <a:rPr sz="1600">
                <a:solidFill>
                  <a:srgbClr val="475569"/>
                </a:solidFill>
                <a:latin typeface="Inter"/>
              </a:rPr>
              <a:t>Add u to set S and record edge (parent[u], u).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2563EB"/>
                </a:solidFill>
                <a:latin typeface="Inter Display"/>
              </a:rPr>
              <a:t>3. Relax Keys</a:t>
            </a:r>
          </a:p>
          <a:p>
            <a:pPr algn="l">
              <a:spcAft>
                <a:spcPts val="20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Scan Neighbors: </a:t>
            </a:r>
            <a:r>
              <a:rPr sz="1600">
                <a:solidFill>
                  <a:srgbClr val="475569"/>
                </a:solidFill>
                <a:latin typeface="Inter"/>
              </a:rPr>
              <a:t>Check each adjacent vertex v of u still in Q.</a:t>
            </a:r>
          </a:p>
          <a:p>
            <a:pPr algn="l">
              <a:spcAft>
                <a:spcPts val="20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Decrease-Key: </a:t>
            </a:r>
            <a:r>
              <a:rPr sz="1600">
                <a:solidFill>
                  <a:srgbClr val="475569"/>
                </a:solidFill>
                <a:latin typeface="Inter"/>
              </a:rPr>
              <a:t>If w(u, v) &lt; key[v], update parent[v] and key[v].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Tarjan (1983), Data Structures and Network Algorithms | Slide 5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5. DRY RUN TRACE — GRAPH EDGES: (A,B)=2, (A,C)=3, (B,C)=1, (B,D)=4, (D,E)=2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Worked Trace Constructs the Spanning Tree in Five Steps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10698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737360"/>
                <a:gridCol w="2011680"/>
                <a:gridCol w="3931920"/>
                <a:gridCol w="1737360"/>
              </a:tblGrid>
              <a:tr h="624839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Step</a:t>
                      </a:r>
                    </a:p>
                  </a:txBody>
                  <a:tcPr anchor="ctr" marL="128016" marR="128016" marT="73152" marB="73152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Extracted u</a:t>
                      </a:r>
                    </a:p>
                  </a:txBody>
                  <a:tcPr anchor="ctr" marL="128016" marR="128016" marT="73152" marB="73152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Selected Edge</a:t>
                      </a:r>
                    </a:p>
                  </a:txBody>
                  <a:tcPr anchor="ctr" marL="128016" marR="128016" marT="73152" marB="73152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Updated Frontier Keys (A, B, C, D, E)</a:t>
                      </a:r>
                    </a:p>
                  </a:txBody>
                  <a:tcPr anchor="ctr" marL="128016" marR="128016" marT="73152" marB="73152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Cumulative Cost</a:t>
                      </a:r>
                    </a:p>
                  </a:txBody>
                  <a:tcPr anchor="ctr" marL="128016" marR="128016" marT="73152" marB="73152">
                    <a:solidFill>
                      <a:srgbClr val="2563EB"/>
                    </a:solidFill>
                  </a:tcPr>
                </a:tc>
              </a:tr>
              <a:tr h="624839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Inter"/>
                        </a:rPr>
                        <a:t>1 (Init)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A (root)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[0,  2 (A),  3 (A),  ∞,  ∞]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B (key=2)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(A, B)  w = 2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[0,  2,  1 (B),  4 (B),  ∞]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</a:tr>
              <a:tr h="624839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C (key=1)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(B, C)  w = 1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[0,  2,  1,  4 (B),  6 (C)]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D (key=4)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(B, D)  w = 4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[0,  2,  1,  4,  2 (D)]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</a:tr>
              <a:tr h="62484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Inter"/>
                        </a:rPr>
                        <a:t>5 (Done)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E (key=2)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(D, E)  w = 2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[0,  2,  1,  4,  2] — All Visited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Note: Edge (A,C)=3 is superseded when (B,C)=1 lowers key[C] from 3 to 1 | Slide 6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6. LAZY VS. EAGER PRIORITY QUEUE DESIGN (SEDGEWICK &amp; WAYNE)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Eager Indexing Caps Priority Queue Memory at O(V) Entries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2563EB"/>
                </a:solidFill>
                <a:latin typeface="Inter Display"/>
              </a:rPr>
              <a:t>Two Priority Queue Strategies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Lazy Prim (O(E) Space): </a:t>
            </a:r>
            <a:r>
              <a:rPr sz="1600">
                <a:solidFill>
                  <a:srgbClr val="475569"/>
                </a:solidFill>
                <a:latin typeface="Inter"/>
              </a:rPr>
              <a:t>Pushes all crossing edges into heap; skips stale edges on pop.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Eager Prim (O(V) Space): </a:t>
            </a:r>
            <a:r>
              <a:rPr sz="1600">
                <a:solidFill>
                  <a:srgbClr val="475569"/>
                </a:solidFill>
                <a:latin typeface="Inter"/>
              </a:rPr>
              <a:t>Stores only one lightest crossing edge per unvisited vertex.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In-Place Decrease-Key: </a:t>
            </a:r>
            <a:r>
              <a:rPr sz="1600">
                <a:solidFill>
                  <a:srgbClr val="475569"/>
                </a:solidFill>
                <a:latin typeface="Inter"/>
              </a:rPr>
              <a:t>Updates key[v] in O(log V) via index map, avoiding duplicate nodes.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0" y="2057400"/>
          <a:ext cx="54864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Sedgewick &amp; Wayne (2011), Section 4.3 — Peak Heap Entries (Thousands, V = 1,000) | Slide 7 of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7. GRANULAR OPERATION COST BREAKDOWN ACROSS PRIORITY QUEUES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Fibonacci and d-ary Heaps Accelerate Decrease-Key Heavy Graphs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10698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011680"/>
                <a:gridCol w="2103120"/>
                <a:gridCol w="2194560"/>
              </a:tblGrid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Priority Queue Type</a:t>
                      </a:r>
                    </a:p>
                  </a:txBody>
                  <a:tcPr anchor="ctr" marL="128016" marR="128016" marT="73152" marB="73152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Extract-Min (x V)</a:t>
                      </a:r>
                    </a:p>
                  </a:txBody>
                  <a:tcPr anchor="ctr" marL="128016" marR="128016" marT="73152" marB="73152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Decrease-Key (x E)</a:t>
                      </a:r>
                    </a:p>
                  </a:txBody>
                  <a:tcPr anchor="ctr" marL="128016" marR="128016" marT="73152" marB="73152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Total Time Complexity</a:t>
                      </a:r>
                    </a:p>
                  </a:txBody>
                  <a:tcPr anchor="ctr" marL="128016" marR="128016" marT="73152" marB="73152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Optimal Graph Regime</a:t>
                      </a:r>
                    </a:p>
                  </a:txBody>
                  <a:tcPr anchor="ctr" marL="128016" marR="128016" marT="73152" marB="73152">
                    <a:solidFill>
                      <a:srgbClr val="2563EB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Inter"/>
                        </a:rPr>
                        <a:t>Unsorted Array / Matrix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O(V) per pop -&gt; O(V²)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O(1) per update -&gt; O(E)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O(V²)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Dense graphs (E ≈ V²)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Inter"/>
                        </a:rPr>
                        <a:t>Binary Min-Heap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O(log V) -&gt; O(V log V)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O(log V) -&gt; O(E log V)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O((V + E) log V)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General sparse graphs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Inter"/>
                        </a:rPr>
                        <a:t>d-ary Heap (d = E / V)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O(d log_d V)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O(log_d V)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O(E log_(E/V) V)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Moderately dense graphs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Inter"/>
                        </a:rPr>
                        <a:t>Fibonacci Heap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O(log V) amortized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O(1) amortized -&gt; O(E)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O(E + V log V)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Asymptotically optimal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Sources: Johnson (1975) d-ary Heaps; Fredman &amp; Tarjan (1987) Fibonacci Heaps | Slide 8 of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8. EMPIRICAL OPERATION SCALING (V = 2,000, E = 20,000)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Heap Selection Cuts Total Queue Operations by Over 90%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2563EB"/>
                </a:solidFill>
                <a:latin typeface="Inter Display"/>
              </a:rPr>
              <a:t>Three Priority Queue Regimes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Adjacency Matrix: </a:t>
            </a:r>
            <a:r>
              <a:rPr sz="1600">
                <a:solidFill>
                  <a:srgbClr val="475569"/>
                </a:solidFill>
                <a:latin typeface="Inter"/>
              </a:rPr>
              <a:t>Performs V^2 = 4,000k comparisons regardless of edge count E.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Binary Min-Heap: </a:t>
            </a:r>
            <a:r>
              <a:rPr sz="1600">
                <a:solidFill>
                  <a:srgbClr val="475569"/>
                </a:solidFill>
                <a:latin typeface="Inter"/>
              </a:rPr>
              <a:t>Cuts work 16x to 242k operations via O(log V) heap sifts.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Fibonacci Heap: </a:t>
            </a:r>
            <a:r>
              <a:rPr sz="1600">
                <a:solidFill>
                  <a:srgbClr val="475569"/>
                </a:solidFill>
                <a:latin typeface="Inter"/>
              </a:rPr>
              <a:t>Reaches 42k operations in theory, though pointer overhead is high.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0" y="2057400"/>
          <a:ext cx="54864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Northwestern CS — Binary vs. Fibonacci Heap Analysis | Space: O(V) | Slide 9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9. SPARSE VS. DENSE TOPOLOGY CROSSOVER (V = 1,000 VERTICES)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Adjacency Matrix Beats Binary Heap Once E Exceeds V² / log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2563EB"/>
                </a:solidFill>
                <a:latin typeface="Inter Display"/>
              </a:rPr>
              <a:t>Topology-Driven Crossover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Sparse Regime (E ≈ 4V): </a:t>
            </a:r>
            <a:r>
              <a:rPr sz="1600">
                <a:solidFill>
                  <a:srgbClr val="475569"/>
                </a:solidFill>
                <a:latin typeface="Inter"/>
              </a:rPr>
              <a:t>Binary heap takes ~50k ops vs. 1,000k for matrix scan (20x faster).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Crossover Point: </a:t>
            </a:r>
            <a:r>
              <a:rPr sz="1600">
                <a:solidFill>
                  <a:srgbClr val="475569"/>
                </a:solidFill>
                <a:latin typeface="Inter"/>
              </a:rPr>
              <a:t>When E = V^2 / log2(V) (~100k edges), both methods require ~1,000k ops.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Complete Graph (E ≈ V²/2): </a:t>
            </a:r>
            <a:r>
              <a:rPr sz="1600">
                <a:solidFill>
                  <a:srgbClr val="475569"/>
                </a:solidFill>
                <a:latin typeface="Inter"/>
              </a:rPr>
              <a:t>Matrix scan stays capped at 1,000k ops while binary heap climbs to 5,000k.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0" y="2057400"/>
          <a:ext cx="54864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Tarjan (1983) — Asymptotic Operation Counts in Thousands for V = 1,000 | Slide 10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10. CLASSICAL MST ALGORITHM COMPARISON MATRIX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Prim, Kruskal, and Boruvka Trade Off Sorting vs. Frontier Priority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10698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2834640"/>
                <a:gridCol w="2834640"/>
              </a:tblGrid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Criterion</a:t>
                      </a:r>
                    </a:p>
                  </a:txBody>
                  <a:tcPr anchor="ctr" marL="128016" marR="128016" marT="73152" marB="73152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Prim's Algorithm (1930/1957)</a:t>
                      </a:r>
                    </a:p>
                  </a:txBody>
                  <a:tcPr anchor="ctr" marL="128016" marR="128016" marT="73152" marB="73152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Kruskal's Algorithm (1956)</a:t>
                      </a:r>
                    </a:p>
                  </a:txBody>
                  <a:tcPr anchor="ctr" marL="128016" marR="128016" marT="73152" marB="73152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Boruvka's Algorithm (1926)</a:t>
                      </a:r>
                    </a:p>
                  </a:txBody>
                  <a:tcPr anchor="ctr" marL="128016" marR="128016" marT="73152" marB="73152">
                    <a:solidFill>
                      <a:srgbClr val="2563EB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Inter"/>
                        </a:rPr>
                        <a:t>Growth Mechanism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Grows 1 connected tree vertex-by-vertex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Merges forest via global sorted edges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Merges all components in log V rounds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Inter"/>
                        </a:rPr>
                        <a:t>Core Data Structure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Min-Priority Queue / Fibonacci Heap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Disjoint-Set Union-Find (DSU) + Sort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Component Labels + Parallel Edge Scan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Inter"/>
                        </a:rPr>
                        <a:t>Time Complexity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O(V²) or O(E + V log V)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O(E log E) = O(E log V)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O(E log V) across ≤ log₂ V phases</a:t>
                      </a:r>
                    </a:p>
                  </a:txBody>
                  <a:tcPr anchor="ctr" marL="128016" marR="128016" marT="73152" marB="73152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Inter"/>
                        </a:rPr>
                        <a:t>Best Use Case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Dense graphs &amp; adjacency matrices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Sparse graphs &amp; pre-sorted edge lists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Parallel / distributed MST &amp; planar graphs</a:t>
                      </a:r>
                    </a:p>
                  </a:txBody>
                  <a:tcPr anchor="ctr" marL="128016" marR="128016" marT="73152" marB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Sources: Boruvka (1926); Kruskal (1956); Prim (1957); Tarjan (1983) | Slide 11 of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11. PARALLEL &amp; DISTRIBUTED PRIM'S ARCHITECTURE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Vertex Partitioning Parallelizes Inner Frontier Scans Across P 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2563EB"/>
                </a:solidFill>
                <a:latin typeface="Inter Display"/>
              </a:rPr>
              <a:t>Parallel Inner-Loop Decomposition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Sequential Outer Loop: </a:t>
            </a:r>
            <a:r>
              <a:rPr sz="1600">
                <a:solidFill>
                  <a:srgbClr val="475569"/>
                </a:solidFill>
                <a:latin typeface="Inter"/>
              </a:rPr>
              <a:t>Main V-step loop is sequential because cut S depends on prior steps.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Sliced Adjacency Columns: </a:t>
            </a:r>
            <a:r>
              <a:rPr sz="1600">
                <a:solidFill>
                  <a:srgbClr val="475569"/>
                </a:solidFill>
                <a:latin typeface="Inter"/>
              </a:rPr>
              <a:t>Each processor P_i owns |V|/|P| vertices and finds its local minimum key.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Parallel Time Bound: </a:t>
            </a:r>
            <a:r>
              <a:rPr sz="1600">
                <a:solidFill>
                  <a:srgbClr val="475569"/>
                </a:solidFill>
                <a:latin typeface="Inter"/>
              </a:rPr>
              <a:t>Global min-reduce + broadcast runs in O(V^2 / P) + O(V log P) total time.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0" y="2057400"/>
          <a:ext cx="54864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Grama, Gupta, Karypis &amp; Kumar (2003), Introduction to Parallel Computing | Slide 12 of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12. APPLICATIONS &amp; ALGORITHMIC EDGE CASES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Prim Powers Grids and Negative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02920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2563EB"/>
                </a:solidFill>
                <a:latin typeface="Inter Display"/>
              </a:rPr>
              <a:t>Deployments &amp; Corner Cases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Grid &amp; TSP Backbone: </a:t>
            </a:r>
            <a:r>
              <a:rPr sz="1600">
                <a:solidFill>
                  <a:srgbClr val="475569"/>
                </a:solidFill>
                <a:latin typeface="Inter"/>
              </a:rPr>
              <a:t>Designs VLSI/fiber grids and 2-approximation tours for metric TSP.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Negative Edge Weights: </a:t>
            </a:r>
            <a:r>
              <a:rPr sz="1600">
                <a:solidFill>
                  <a:srgbClr val="475569"/>
                </a:solidFill>
                <a:latin typeface="Inter"/>
              </a:rPr>
              <a:t>Unlike Dijkstra, Prim remains 100% exact on negative edge weights.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Ties &amp; Disconnected Graphs: </a:t>
            </a:r>
            <a:r>
              <a:rPr sz="1600">
                <a:solidFill>
                  <a:srgbClr val="475569"/>
                </a:solidFill>
                <a:latin typeface="Inter"/>
              </a:rPr>
              <a:t>Distinct weights guarantee a unique MST; restart per component for forests.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355080"/>
            <a:ext cx="50292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Kepner &amp; Gilbert (2011) | Slide 13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9601200" cy="23774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93C5FD"/>
                </a:solidFill>
                <a:latin typeface="Inter"/>
              </a:rPr>
              <a:t>KEY TAKEAWAY</a:t>
            </a:r>
          </a:p>
          <a:p>
            <a:pPr algn="l">
              <a:spcAft>
                <a:spcPts val="1800"/>
              </a:spcAft>
            </a:pPr>
            <a:r>
              <a:rPr sz="3800" b="1">
                <a:solidFill>
                  <a:srgbClr val="F8FAFC"/>
                </a:solidFill>
                <a:latin typeface="Inter Display"/>
              </a:rPr>
              <a:t>Local greedy cuts build globally minimal networks.</a:t>
            </a:r>
          </a:p>
          <a:p>
            <a:pPr algn="l"/>
            <a:r>
              <a:rPr sz="1800">
                <a:solidFill>
                  <a:srgbClr val="CBD5E1"/>
                </a:solidFill>
                <a:latin typeface="Inter"/>
              </a:rPr>
              <a:t>Thank You   |   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Inter"/>
              </a:rPr>
              <a:t>Design &amp; Analysis of Algorithms (DAA) | Minimum Spanning Trees | Slide 14 of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